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914400"/>
            <a:ext cx="914400" cy="548640"/>
          </a:xfrm>
          <a:prstGeom prst="line">
            <a:avLst/>
          </a:prstGeom>
          <a:noFill/>
          <a:ln w="12700">
            <a:solidFill>
              <a:srgbClr val="00D2F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914400"/>
            <a:ext cx="-365760" cy="1097280"/>
          </a:xfrm>
          <a:prstGeom prst="line">
            <a:avLst/>
          </a:prstGeom>
          <a:noFill/>
          <a:ln w="12700">
            <a:solidFill>
              <a:srgbClr val="00D2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0" y="1463040"/>
            <a:ext cx="-182880" cy="1005840"/>
          </a:xfrm>
          <a:prstGeom prst="line">
            <a:avLst/>
          </a:prstGeom>
          <a:noFill/>
          <a:ln w="12700">
            <a:solidFill>
              <a:srgbClr val="00D2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0" y="2011680"/>
            <a:ext cx="-365760" cy="-640080"/>
          </a:xfrm>
          <a:prstGeom prst="line">
            <a:avLst/>
          </a:prstGeom>
          <a:noFill/>
          <a:ln w="12700">
            <a:solidFill>
              <a:srgbClr val="00D2F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0" y="1463040"/>
            <a:ext cx="-1645920" cy="-91440"/>
          </a:xfrm>
          <a:prstGeom prst="line">
            <a:avLst/>
          </a:prstGeom>
          <a:noFill/>
          <a:ln w="12700">
            <a:solidFill>
              <a:srgbClr val="00D2F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24160" y="822960"/>
            <a:ext cx="182880" cy="182880"/>
          </a:xfrm>
          <a:prstGeom prst="ellipse">
            <a:avLst/>
          </a:prstGeom>
          <a:solidFill>
            <a:srgbClr val="00D2FF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338560" y="1371600"/>
            <a:ext cx="182880" cy="182880"/>
          </a:xfrm>
          <a:prstGeom prst="ellipse">
            <a:avLst/>
          </a:prstGeom>
          <a:solidFill>
            <a:srgbClr val="00D2FF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0" y="1920240"/>
            <a:ext cx="182880" cy="182880"/>
          </a:xfrm>
          <a:prstGeom prst="ellipse">
            <a:avLst/>
          </a:prstGeom>
          <a:solidFill>
            <a:srgbClr val="00D2FF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155680" y="2377440"/>
            <a:ext cx="182880" cy="182880"/>
          </a:xfrm>
          <a:prstGeom prst="ellipse">
            <a:avLst/>
          </a:prstGeom>
          <a:solidFill>
            <a:srgbClr val="00D2FF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692640" y="1280160"/>
            <a:ext cx="182880" cy="182880"/>
          </a:xfrm>
          <a:prstGeom prst="ellipse">
            <a:avLst/>
          </a:prstGeom>
          <a:solidFill>
            <a:srgbClr val="00D2FF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2331720"/>
            <a:ext cx="109728" cy="1645920"/>
          </a:xfrm>
          <a:prstGeom prst="rect">
            <a:avLst/>
          </a:prstGeom>
          <a:solidFill>
            <a:srgbClr val="00D2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224028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Privacy-Preserving</a:t>
            </a:r>
            <a:endParaRPr lang="en-US" sz="5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Streaming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1115568" y="40690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Resilient Surveillance System for Unreliable Networks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115568" y="5074920"/>
            <a:ext cx="6400800" cy="0"/>
          </a:xfrm>
          <a:prstGeom prst="line">
            <a:avLst/>
          </a:prstGeom>
          <a:noFill/>
          <a:ln w="12700">
            <a:solidFill>
              <a:srgbClr val="2A32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5212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 Application Technology</a:t>
            </a:r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Final Project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15568" y="5623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Jungha [name]</a:t>
            </a:r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Spring 2026</a:t>
            </a:r>
            <a:endParaRPr lang="en-US" sz="14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1417320"/>
            <a:ext cx="502920" cy="5029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783080" y="148132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· REAL-TIME · RESILIENT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Surveillance Paradox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5074920" cy="4754880"/>
          </a:xfrm>
          <a:prstGeom prst="roundRect">
            <a:avLst>
              <a:gd name="adj" fmla="val 1923"/>
            </a:avLst>
          </a:prstGeom>
          <a:solidFill>
            <a:srgbClr val="161B22"/>
          </a:solidFill>
          <a:ln w="15875">
            <a:solidFill>
              <a:srgbClr val="DC35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73736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459736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237744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video transmission raises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concerns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3666744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3584448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Networks are unreliable: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packets drop, latency spikes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4873752"/>
            <a:ext cx="365760" cy="365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17320" y="4791456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Bandwidth constraints in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surveillance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6446520" y="1508760"/>
            <a:ext cx="5074920" cy="4754880"/>
          </a:xfrm>
          <a:prstGeom prst="roundRect">
            <a:avLst>
              <a:gd name="adj" fmla="val 1923"/>
            </a:avLst>
          </a:prstGeom>
          <a:solidFill>
            <a:srgbClr val="161B22"/>
          </a:solidFill>
          <a:ln w="15875">
            <a:solidFill>
              <a:srgbClr val="28A74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Text 7"/>
          <p:cNvSpPr/>
          <p:nvPr/>
        </p:nvSpPr>
        <p:spPr>
          <a:xfrm>
            <a:off x="6675120" y="173736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6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552" y="2459736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223760" y="237744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Transmit only ROI (people)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background discarded at edge</a:t>
            </a:r>
            <a:endParaRPr lang="en-US" sz="16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2552" y="3666744"/>
            <a:ext cx="365760" cy="3657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223760" y="3584448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recovery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packet loss</a:t>
            </a:r>
            <a:endParaRPr lang="en-US" sz="16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2552" y="4873752"/>
            <a:ext cx="365760" cy="36576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223760" y="4791456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quality control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closed-loop PID</a:t>
            </a:r>
            <a:endParaRPr lang="en-US" sz="1600" dirty="0"/>
          </a:p>
        </p:txBody>
      </p:sp>
      <p:sp>
        <p:nvSpPr>
          <p:cNvPr id="19" name="Shape 11"/>
          <p:cNvSpPr/>
          <p:nvPr/>
        </p:nvSpPr>
        <p:spPr>
          <a:xfrm>
            <a:off x="5760720" y="3474720"/>
            <a:ext cx="822960" cy="822960"/>
          </a:xfrm>
          <a:prstGeom prst="ellipse">
            <a:avLst/>
          </a:prstGeom>
          <a:solidFill>
            <a:srgbClr val="0E1117"/>
          </a:solidFill>
          <a:ln w="19050">
            <a:solidFill>
              <a:srgbClr val="00D2FF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5760720" y="3429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Logically Separated Nodes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977640" cy="4160520"/>
          </a:xfrm>
          <a:prstGeom prst="roundRect">
            <a:avLst>
              <a:gd name="adj" fmla="val 1839"/>
            </a:avLst>
          </a:prstGeom>
          <a:solidFill>
            <a:srgbClr val="161B22"/>
          </a:solidFill>
          <a:ln w="12700">
            <a:solidFill>
              <a:srgbClr val="2A32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916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700784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 </a:t>
            </a:r>
            <a:pPr indent="0" marL="0">
              <a:buNone/>
            </a:pPr>
            <a:r>
              <a:rPr lang="en-US" sz="1500" spc="100" kern="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Jetson Orin Nano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914400" y="2331720"/>
            <a:ext cx="3429000" cy="475488"/>
          </a:xfrm>
          <a:prstGeom prst="rect">
            <a:avLst/>
          </a:prstGeom>
          <a:solidFill>
            <a:srgbClr val="1B222C"/>
          </a:solidFill>
          <a:ln w="12700">
            <a:solidFill>
              <a:srgbClr val="2A323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14400" y="2331720"/>
            <a:ext cx="64008" cy="475488"/>
          </a:xfrm>
          <a:prstGeom prst="rect">
            <a:avLst/>
          </a:prstGeom>
          <a:solidFill>
            <a:srgbClr val="00D2FF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233172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/ Video source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14400" y="2926080"/>
            <a:ext cx="3429000" cy="475488"/>
          </a:xfrm>
          <a:prstGeom prst="rect">
            <a:avLst/>
          </a:prstGeom>
          <a:solidFill>
            <a:srgbClr val="1B222C"/>
          </a:solidFill>
          <a:ln w="12700">
            <a:solidFill>
              <a:srgbClr val="2A323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2926080"/>
            <a:ext cx="64008" cy="475488"/>
          </a:xfrm>
          <a:prstGeom prst="rect">
            <a:avLst/>
          </a:prstGeom>
          <a:solidFill>
            <a:srgbClr val="00D2FF"/>
          </a:solidFill>
          <a:ln/>
        </p:spPr>
      </p:sp>
      <p:sp>
        <p:nvSpPr>
          <p:cNvPr id="12" name="Text 9"/>
          <p:cNvSpPr/>
          <p:nvPr/>
        </p:nvSpPr>
        <p:spPr>
          <a:xfrm>
            <a:off x="1097280" y="292608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YOLOv8n  (TensorRT)  — detect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914400" y="3520440"/>
            <a:ext cx="3429000" cy="475488"/>
          </a:xfrm>
          <a:prstGeom prst="rect">
            <a:avLst/>
          </a:prstGeom>
          <a:solidFill>
            <a:srgbClr val="1B222C"/>
          </a:solidFill>
          <a:ln w="12700">
            <a:solidFill>
              <a:srgbClr val="2A323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14400" y="3520440"/>
            <a:ext cx="64008" cy="475488"/>
          </a:xfrm>
          <a:prstGeom prst="rect">
            <a:avLst/>
          </a:prstGeom>
          <a:solidFill>
            <a:srgbClr val="00D2FF"/>
          </a:solidFill>
          <a:ln/>
        </p:spPr>
      </p:sp>
      <p:sp>
        <p:nvSpPr>
          <p:cNvPr id="15" name="Text 12"/>
          <p:cNvSpPr/>
          <p:nvPr/>
        </p:nvSpPr>
        <p:spPr>
          <a:xfrm>
            <a:off x="1097280" y="352044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Extractor  (JPEG encode)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914400" y="4114800"/>
            <a:ext cx="3429000" cy="475488"/>
          </a:xfrm>
          <a:prstGeom prst="rect">
            <a:avLst/>
          </a:prstGeom>
          <a:solidFill>
            <a:srgbClr val="1B222C"/>
          </a:solidFill>
          <a:ln w="12700">
            <a:solidFill>
              <a:srgbClr val="2A323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14400" y="4114800"/>
            <a:ext cx="64008" cy="475488"/>
          </a:xfrm>
          <a:prstGeom prst="rect">
            <a:avLst/>
          </a:prstGeom>
          <a:solidFill>
            <a:srgbClr val="00D2FF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411480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UDP Sender + Header Redundancy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914400" y="4709160"/>
            <a:ext cx="3429000" cy="475488"/>
          </a:xfrm>
          <a:prstGeom prst="rect">
            <a:avLst/>
          </a:prstGeom>
          <a:solidFill>
            <a:srgbClr val="1B222C"/>
          </a:solidFill>
          <a:ln w="12700">
            <a:solidFill>
              <a:srgbClr val="2A323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14400" y="4709160"/>
            <a:ext cx="64008" cy="475488"/>
          </a:xfrm>
          <a:prstGeom prst="rect">
            <a:avLst/>
          </a:prstGeom>
          <a:solidFill>
            <a:srgbClr val="00D2FF"/>
          </a:solidFill>
          <a:ln/>
        </p:spPr>
      </p:sp>
      <p:sp>
        <p:nvSpPr>
          <p:cNvPr id="21" name="Text 18"/>
          <p:cNvSpPr/>
          <p:nvPr/>
        </p:nvSpPr>
        <p:spPr>
          <a:xfrm>
            <a:off x="1097280" y="470916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Receiver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543800" y="1463040"/>
            <a:ext cx="3977640" cy="4160520"/>
          </a:xfrm>
          <a:prstGeom prst="roundRect">
            <a:avLst>
              <a:gd name="adj" fmla="val 1839"/>
            </a:avLst>
          </a:prstGeom>
          <a:solidFill>
            <a:srgbClr val="161B22"/>
          </a:solidFill>
          <a:ln w="12700">
            <a:solidFill>
              <a:srgbClr val="2A32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691640"/>
            <a:ext cx="411480" cy="4114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275320" y="1700784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 </a:t>
            </a:r>
            <a:pPr indent="0" marL="0">
              <a:buNone/>
            </a:pPr>
            <a:r>
              <a:rPr lang="en-US" sz="1500" spc="100" kern="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7818120" y="2331720"/>
            <a:ext cx="3429000" cy="475488"/>
          </a:xfrm>
          <a:prstGeom prst="rect">
            <a:avLst/>
          </a:prstGeom>
          <a:solidFill>
            <a:srgbClr val="1B222C"/>
          </a:solidFill>
          <a:ln w="12700">
            <a:solidFill>
              <a:srgbClr val="2A323D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818120" y="2331720"/>
            <a:ext cx="64008" cy="475488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7" name="Text 23"/>
          <p:cNvSpPr/>
          <p:nvPr/>
        </p:nvSpPr>
        <p:spPr>
          <a:xfrm>
            <a:off x="8001000" y="233172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Packet Receiver + Reorder Buffer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7818120" y="2926080"/>
            <a:ext cx="3429000" cy="475488"/>
          </a:xfrm>
          <a:prstGeom prst="rect">
            <a:avLst/>
          </a:prstGeom>
          <a:solidFill>
            <a:srgbClr val="1B222C"/>
          </a:solidFill>
          <a:ln w="12700">
            <a:solidFill>
              <a:srgbClr val="2A323D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7818120" y="2926080"/>
            <a:ext cx="64008" cy="475488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30" name="Text 26"/>
          <p:cNvSpPr/>
          <p:nvPr/>
        </p:nvSpPr>
        <p:spPr>
          <a:xfrm>
            <a:off x="8001000" y="292608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Recovery: ZoH + Kalman + Predict</a:t>
            </a:r>
            <a:endParaRPr lang="en-US" sz="1250" dirty="0"/>
          </a:p>
        </p:txBody>
      </p:sp>
      <p:sp>
        <p:nvSpPr>
          <p:cNvPr id="31" name="Shape 27"/>
          <p:cNvSpPr/>
          <p:nvPr/>
        </p:nvSpPr>
        <p:spPr>
          <a:xfrm>
            <a:off x="7818120" y="3520440"/>
            <a:ext cx="3429000" cy="475488"/>
          </a:xfrm>
          <a:prstGeom prst="rect">
            <a:avLst/>
          </a:prstGeom>
          <a:solidFill>
            <a:srgbClr val="1B222C"/>
          </a:solidFill>
          <a:ln w="12700">
            <a:solidFill>
              <a:srgbClr val="2A323D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7818120" y="3520440"/>
            <a:ext cx="64008" cy="475488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33" name="Text 29"/>
          <p:cNvSpPr/>
          <p:nvPr/>
        </p:nvSpPr>
        <p:spPr>
          <a:xfrm>
            <a:off x="8001000" y="352044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Stitcher  (frame reassembly)</a:t>
            </a:r>
            <a:endParaRPr lang="en-US" sz="1250" dirty="0"/>
          </a:p>
        </p:txBody>
      </p:sp>
      <p:sp>
        <p:nvSpPr>
          <p:cNvPr id="34" name="Shape 30"/>
          <p:cNvSpPr/>
          <p:nvPr/>
        </p:nvSpPr>
        <p:spPr>
          <a:xfrm>
            <a:off x="7818120" y="4114800"/>
            <a:ext cx="3429000" cy="475488"/>
          </a:xfrm>
          <a:prstGeom prst="rect">
            <a:avLst/>
          </a:prstGeom>
          <a:solidFill>
            <a:srgbClr val="1B222C"/>
          </a:solidFill>
          <a:ln w="12700">
            <a:solidFill>
              <a:srgbClr val="2A323D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7818120" y="4114800"/>
            <a:ext cx="64008" cy="475488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36" name="Text 32"/>
          <p:cNvSpPr/>
          <p:nvPr/>
        </p:nvSpPr>
        <p:spPr>
          <a:xfrm>
            <a:off x="8001000" y="411480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Machine + PID</a:t>
            </a:r>
            <a:endParaRPr lang="en-US" sz="1250" dirty="0"/>
          </a:p>
        </p:txBody>
      </p:sp>
      <p:sp>
        <p:nvSpPr>
          <p:cNvPr id="37" name="Shape 33"/>
          <p:cNvSpPr/>
          <p:nvPr/>
        </p:nvSpPr>
        <p:spPr>
          <a:xfrm>
            <a:off x="7818120" y="4709160"/>
            <a:ext cx="3429000" cy="475488"/>
          </a:xfrm>
          <a:prstGeom prst="rect">
            <a:avLst/>
          </a:prstGeom>
          <a:solidFill>
            <a:srgbClr val="1B222C"/>
          </a:solidFill>
          <a:ln w="12700">
            <a:solidFill>
              <a:srgbClr val="2A323D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7818120" y="4709160"/>
            <a:ext cx="64008" cy="475488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39" name="Text 35"/>
          <p:cNvSpPr/>
          <p:nvPr/>
        </p:nvSpPr>
        <p:spPr>
          <a:xfrm>
            <a:off x="8001000" y="470916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View + Security State</a:t>
            </a:r>
            <a:endParaRPr lang="en-US" sz="1250" dirty="0"/>
          </a:p>
        </p:txBody>
      </p:sp>
      <p:sp>
        <p:nvSpPr>
          <p:cNvPr id="40" name="Text 36"/>
          <p:cNvSpPr/>
          <p:nvPr/>
        </p:nvSpPr>
        <p:spPr>
          <a:xfrm>
            <a:off x="4617720" y="2286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UDP CHANNEL</a:t>
            </a:r>
            <a:endParaRPr lang="en-US" sz="1300" dirty="0"/>
          </a:p>
        </p:txBody>
      </p:sp>
      <p:sp>
        <p:nvSpPr>
          <p:cNvPr id="41" name="Shape 37"/>
          <p:cNvSpPr/>
          <p:nvPr/>
        </p:nvSpPr>
        <p:spPr>
          <a:xfrm>
            <a:off x="4754880" y="2880360"/>
            <a:ext cx="189411" cy="164592"/>
          </a:xfrm>
          <a:prstGeom prst="line">
            <a:avLst/>
          </a:prstGeom>
          <a:noFill/>
          <a:ln w="25400">
            <a:solidFill>
              <a:srgbClr val="FFC107">
                <a:alpha val="80000"/>
              </a:srgbClr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4944291" y="3044952"/>
            <a:ext cx="189411" cy="-164592"/>
          </a:xfrm>
          <a:prstGeom prst="line">
            <a:avLst/>
          </a:prstGeom>
          <a:noFill/>
          <a:ln w="25400">
            <a:solidFill>
              <a:srgbClr val="FFC107">
                <a:alpha val="80000"/>
              </a:srgbClr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5133703" y="2880360"/>
            <a:ext cx="189411" cy="164592"/>
          </a:xfrm>
          <a:prstGeom prst="line">
            <a:avLst/>
          </a:prstGeom>
          <a:noFill/>
          <a:ln w="25400">
            <a:solidFill>
              <a:srgbClr val="FFC107">
                <a:alpha val="80000"/>
              </a:srgbClr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5323114" y="3044952"/>
            <a:ext cx="189411" cy="-164592"/>
          </a:xfrm>
          <a:prstGeom prst="line">
            <a:avLst/>
          </a:prstGeom>
          <a:noFill/>
          <a:ln w="25400">
            <a:solidFill>
              <a:srgbClr val="FFC107">
                <a:alpha val="80000"/>
              </a:srgbClr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5512526" y="2880360"/>
            <a:ext cx="189411" cy="164592"/>
          </a:xfrm>
          <a:prstGeom prst="line">
            <a:avLst/>
          </a:prstGeom>
          <a:noFill/>
          <a:ln w="25400">
            <a:solidFill>
              <a:srgbClr val="FFC107">
                <a:alpha val="80000"/>
              </a:srgbClr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5701937" y="3044952"/>
            <a:ext cx="189411" cy="-164592"/>
          </a:xfrm>
          <a:prstGeom prst="line">
            <a:avLst/>
          </a:prstGeom>
          <a:noFill/>
          <a:ln w="25400">
            <a:solidFill>
              <a:srgbClr val="FFC107">
                <a:alpha val="80000"/>
              </a:srgbClr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5891349" y="2880360"/>
            <a:ext cx="189411" cy="164592"/>
          </a:xfrm>
          <a:prstGeom prst="line">
            <a:avLst/>
          </a:prstGeom>
          <a:noFill/>
          <a:ln w="25400">
            <a:solidFill>
              <a:srgbClr val="FFC107">
                <a:alpha val="80000"/>
              </a:srgbClr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6080760" y="3044952"/>
            <a:ext cx="189411" cy="-164592"/>
          </a:xfrm>
          <a:prstGeom prst="line">
            <a:avLst/>
          </a:prstGeom>
          <a:noFill/>
          <a:ln w="25400">
            <a:solidFill>
              <a:srgbClr val="FFC107">
                <a:alpha val="80000"/>
              </a:srgbClr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6270171" y="2880360"/>
            <a:ext cx="189411" cy="164592"/>
          </a:xfrm>
          <a:prstGeom prst="line">
            <a:avLst/>
          </a:prstGeom>
          <a:noFill/>
          <a:ln w="25400">
            <a:solidFill>
              <a:srgbClr val="FFC107">
                <a:alpha val="80000"/>
              </a:srgbClr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6459583" y="3044952"/>
            <a:ext cx="189411" cy="-164592"/>
          </a:xfrm>
          <a:prstGeom prst="line">
            <a:avLst/>
          </a:prstGeom>
          <a:noFill/>
          <a:ln w="25400">
            <a:solidFill>
              <a:srgbClr val="FFC107">
                <a:alpha val="80000"/>
              </a:srgbClr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6648994" y="2880360"/>
            <a:ext cx="189411" cy="164592"/>
          </a:xfrm>
          <a:prstGeom prst="line">
            <a:avLst/>
          </a:prstGeom>
          <a:noFill/>
          <a:ln w="25400">
            <a:solidFill>
              <a:srgbClr val="FFC107">
                <a:alpha val="80000"/>
              </a:srgbClr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6838406" y="3044952"/>
            <a:ext cx="189411" cy="-164592"/>
          </a:xfrm>
          <a:prstGeom prst="line">
            <a:avLst/>
          </a:prstGeom>
          <a:noFill/>
          <a:ln w="25400">
            <a:solidFill>
              <a:srgbClr val="FFC107">
                <a:alpha val="80000"/>
              </a:srgbClr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7027817" y="2880360"/>
            <a:ext cx="189411" cy="164592"/>
          </a:xfrm>
          <a:prstGeom prst="line">
            <a:avLst/>
          </a:prstGeom>
          <a:noFill/>
          <a:ln w="25400">
            <a:solidFill>
              <a:srgbClr val="FFC107">
                <a:alpha val="80000"/>
              </a:srgbClr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7217229" y="3044952"/>
            <a:ext cx="189411" cy="-164592"/>
          </a:xfrm>
          <a:prstGeom prst="line">
            <a:avLst/>
          </a:prstGeom>
          <a:noFill/>
          <a:ln w="25400">
            <a:solidFill>
              <a:srgbClr val="FFC107">
                <a:alpha val="80000"/>
              </a:srgbClr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4617720" y="3246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Drop + Delay</a:t>
            </a:r>
            <a:endParaRPr lang="en-US" sz="1150" dirty="0"/>
          </a:p>
        </p:txBody>
      </p:sp>
      <p:sp>
        <p:nvSpPr>
          <p:cNvPr id="56" name="Shape 52"/>
          <p:cNvSpPr/>
          <p:nvPr/>
        </p:nvSpPr>
        <p:spPr>
          <a:xfrm>
            <a:off x="4800600" y="3977640"/>
            <a:ext cx="2560320" cy="0"/>
          </a:xfrm>
          <a:prstGeom prst="line">
            <a:avLst/>
          </a:prstGeom>
          <a:noFill/>
          <a:ln w="31750">
            <a:solidFill>
              <a:srgbClr val="00D2FF"/>
            </a:solidFill>
            <a:prstDash val="solid"/>
            <a:tailEnd type="triangle"/>
          </a:ln>
        </p:spPr>
      </p:sp>
      <p:sp>
        <p:nvSpPr>
          <p:cNvPr id="57" name="Text 53"/>
          <p:cNvSpPr/>
          <p:nvPr/>
        </p:nvSpPr>
        <p:spPr>
          <a:xfrm>
            <a:off x="4617720" y="36758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patches  ▶</a:t>
            </a:r>
            <a:endParaRPr lang="en-US" sz="1100" dirty="0"/>
          </a:p>
        </p:txBody>
      </p:sp>
      <p:sp>
        <p:nvSpPr>
          <p:cNvPr id="58" name="Shape 54"/>
          <p:cNvSpPr/>
          <p:nvPr/>
        </p:nvSpPr>
        <p:spPr>
          <a:xfrm>
            <a:off x="4800600" y="4572000"/>
            <a:ext cx="2560320" cy="0"/>
          </a:xfrm>
          <a:prstGeom prst="line">
            <a:avLst/>
          </a:prstGeom>
          <a:noFill/>
          <a:ln w="22225">
            <a:solidFill>
              <a:srgbClr val="8B949E"/>
            </a:solidFill>
            <a:prstDash val="dash"/>
            <a:headEnd type="triangle"/>
          </a:ln>
        </p:spPr>
      </p:sp>
      <p:sp>
        <p:nvSpPr>
          <p:cNvPr id="59" name="Text 55"/>
          <p:cNvSpPr/>
          <p:nvPr/>
        </p:nvSpPr>
        <p:spPr>
          <a:xfrm>
            <a:off x="4617720" y="4663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 feedback</a:t>
            </a:r>
            <a:endParaRPr lang="en-US" sz="1100" dirty="0"/>
          </a:p>
        </p:txBody>
      </p:sp>
      <p:pic>
        <p:nvPicPr>
          <p:cNvPr id="6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934456"/>
            <a:ext cx="292608" cy="292608"/>
          </a:xfrm>
          <a:prstGeom prst="rect">
            <a:avLst/>
          </a:prstGeom>
        </p:spPr>
      </p:pic>
      <p:sp>
        <p:nvSpPr>
          <p:cNvPr id="61" name="Text 56"/>
          <p:cNvSpPr/>
          <p:nvPr/>
        </p:nvSpPr>
        <p:spPr>
          <a:xfrm>
            <a:off x="1024128" y="591616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Privacy:  </a:t>
            </a:r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discarded at edge — never transmitted</a:t>
            </a:r>
            <a:endParaRPr lang="en-US" sz="1250" dirty="0"/>
          </a:p>
        </p:txBody>
      </p:sp>
      <p:pic>
        <p:nvPicPr>
          <p:cNvPr id="6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5934456"/>
            <a:ext cx="292608" cy="292608"/>
          </a:xfrm>
          <a:prstGeom prst="rect">
            <a:avLst/>
          </a:prstGeom>
        </p:spPr>
      </p:pic>
      <p:sp>
        <p:nvSpPr>
          <p:cNvPr id="63" name="Text 57"/>
          <p:cNvSpPr/>
          <p:nvPr/>
        </p:nvSpPr>
        <p:spPr>
          <a:xfrm>
            <a:off x="6739128" y="591616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Adaptive:  </a:t>
            </a:r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closed-loop quality control via PID feedback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Layers of Recovery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5394960" cy="1783080"/>
          </a:xfrm>
          <a:prstGeom prst="roundRect">
            <a:avLst>
              <a:gd name="adj" fmla="val 3590"/>
            </a:avLst>
          </a:prstGeom>
          <a:solidFill>
            <a:srgbClr val="161B22"/>
          </a:solidFill>
          <a:ln w="12700">
            <a:solidFill>
              <a:srgbClr val="2A32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43000"/>
            <a:ext cx="82296" cy="1783080"/>
          </a:xfrm>
          <a:prstGeom prst="rect">
            <a:avLst/>
          </a:prstGeom>
          <a:solidFill>
            <a:srgbClr val="00D2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4173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0" y="130759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508760" y="139903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Header Redundancy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50976" y="1984248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frame header sent 5×.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50% packet drop, total-loss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= 3%. Frames almost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lost.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92240" y="1143000"/>
            <a:ext cx="5394960" cy="1783080"/>
          </a:xfrm>
          <a:prstGeom prst="roundRect">
            <a:avLst>
              <a:gd name="adj" fmla="val 3590"/>
            </a:avLst>
          </a:prstGeom>
          <a:solidFill>
            <a:srgbClr val="161B22"/>
          </a:solidFill>
          <a:ln w="12700">
            <a:solidFill>
              <a:srgbClr val="2A32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1143000"/>
            <a:ext cx="82296" cy="1783080"/>
          </a:xfrm>
          <a:prstGeom prst="rect">
            <a:avLst/>
          </a:prstGeom>
          <a:solidFill>
            <a:srgbClr val="28A74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14173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881360" y="130759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7360920" y="139903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Zero-order Hold Recovery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6803136" y="1984248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patch fails to arrive,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the previous frame's patch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image. The person doesn't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disappear.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3246120"/>
            <a:ext cx="5394960" cy="1783080"/>
          </a:xfrm>
          <a:prstGeom prst="roundRect">
            <a:avLst>
              <a:gd name="adj" fmla="val 3590"/>
            </a:avLst>
          </a:prstGeom>
          <a:solidFill>
            <a:srgbClr val="161B22"/>
          </a:solidFill>
          <a:ln w="12700">
            <a:solidFill>
              <a:srgbClr val="2A32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080" y="3246120"/>
            <a:ext cx="82296" cy="1783080"/>
          </a:xfrm>
          <a:prstGeom prst="rect">
            <a:avLst/>
          </a:prstGeom>
          <a:solidFill>
            <a:srgbClr val="FFC10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52044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29200" y="341071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4"/>
          <p:cNvSpPr/>
          <p:nvPr/>
        </p:nvSpPr>
        <p:spPr>
          <a:xfrm>
            <a:off x="1508760" y="350215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Kalman Compensation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950976" y="4087368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Estimates each person's velocity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translates the recovered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to the predicted position.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misalignment.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492240" y="3246120"/>
            <a:ext cx="5394960" cy="1783080"/>
          </a:xfrm>
          <a:prstGeom prst="roundRect">
            <a:avLst>
              <a:gd name="adj" fmla="val 3590"/>
            </a:avLst>
          </a:prstGeom>
          <a:solidFill>
            <a:srgbClr val="161B22"/>
          </a:solidFill>
          <a:ln w="12700">
            <a:solidFill>
              <a:srgbClr val="2A32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92240" y="3246120"/>
            <a:ext cx="82296" cy="1783080"/>
          </a:xfrm>
          <a:prstGeom prst="rect">
            <a:avLst/>
          </a:prstGeom>
          <a:solidFill>
            <a:srgbClr val="DC3545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352044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881360" y="341071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5" name="Text 19"/>
          <p:cNvSpPr/>
          <p:nvPr/>
        </p:nvSpPr>
        <p:spPr>
          <a:xfrm>
            <a:off x="7360920" y="350215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Predict-only Mode</a:t>
            </a:r>
            <a:endParaRPr lang="en-US" sz="1650" dirty="0"/>
          </a:p>
        </p:txBody>
      </p:sp>
      <p:sp>
        <p:nvSpPr>
          <p:cNvPr id="26" name="Text 20"/>
          <p:cNvSpPr/>
          <p:nvPr/>
        </p:nvSpPr>
        <p:spPr>
          <a:xfrm>
            <a:off x="6803136" y="4087368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detection itself fails,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Kalman generates virtual patches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expected positions. Tracking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continues.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640080" y="5303520"/>
            <a:ext cx="11247120" cy="868680"/>
          </a:xfrm>
          <a:prstGeom prst="roundRect">
            <a:avLst>
              <a:gd name="adj" fmla="val 6316"/>
            </a:avLst>
          </a:prstGeom>
          <a:solidFill>
            <a:srgbClr val="1B222C"/>
          </a:solidFill>
          <a:ln w="12700">
            <a:solidFill>
              <a:srgbClr val="00D2FF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5559552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371600" y="53949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Control Loop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4206240" y="530352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 Controller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adjusts JPEG quality (30–95) from reception ratio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3-State Machine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/ Warning / Emergency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0"/>
            <a:ext cx="187452" cy="46278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4652" y="2789478"/>
            <a:ext cx="187452" cy="45100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" y="2834578"/>
            <a:ext cx="187452" cy="29979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9556" y="2864557"/>
            <a:ext cx="187452" cy="2072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07008" y="2866629"/>
            <a:ext cx="187452" cy="-33164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94460" y="2833465"/>
            <a:ext cx="187452" cy="-66712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1912" y="2766752"/>
            <a:ext cx="187452" cy="-88066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69364" y="2678686"/>
            <a:ext cx="187452" cy="-88234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56816" y="2590452"/>
            <a:ext cx="187452" cy="-62881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44268" y="2527571"/>
            <a:ext cx="187452" cy="-14595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31720" y="2512976"/>
            <a:ext cx="187452" cy="46620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9172" y="2559596"/>
            <a:ext cx="187452" cy="105115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06624" y="2664710"/>
            <a:ext cx="187452" cy="143450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94076" y="2808160"/>
            <a:ext cx="187452" cy="147430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81528" y="2955590"/>
            <a:ext cx="187452" cy="110903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68980" y="3066494"/>
            <a:ext cx="187452" cy="38757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56432" y="3105251"/>
            <a:ext cx="187452" cy="-53085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43884" y="3052166"/>
            <a:ext cx="187452" cy="-141048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31336" y="2911118"/>
            <a:ext cx="187452" cy="-200029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18788" y="2711089"/>
            <a:ext cx="187452" cy="-210647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06240" y="2500442"/>
            <a:ext cx="187452" cy="-165504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93692" y="2334938"/>
            <a:ext cx="187452" cy="-72418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81144" y="2262520"/>
            <a:ext cx="187452" cy="46617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68596" y="2309138"/>
            <a:ext cx="187452" cy="160779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56048" y="2469917"/>
            <a:ext cx="187452" cy="238728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43500" y="2708645"/>
            <a:ext cx="187452" cy="257580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30952" y="2966225"/>
            <a:ext cx="187452" cy="209839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18404" y="3176064"/>
            <a:ext cx="187452" cy="106150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05856" y="3282214"/>
            <a:ext cx="187452" cy="-27152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3308" y="3255062"/>
            <a:ext cx="187452" cy="-155088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80760" y="3099974"/>
            <a:ext cx="187452" cy="-243731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68212" y="2856243"/>
            <a:ext cx="187452" cy="-269698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55664" y="2586545"/>
            <a:ext cx="187452" cy="-226664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43116" y="2359881"/>
            <a:ext cx="187452" cy="-126990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30568" y="2232891"/>
            <a:ext cx="187452" cy="1988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18020" y="2234879"/>
            <a:ext cx="187452" cy="125834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05472" y="2360713"/>
            <a:ext cx="187452" cy="212680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92924" y="2573393"/>
            <a:ext cx="187452" cy="241851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80376" y="2815244"/>
            <a:ext cx="187452" cy="208984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67828" y="3024227"/>
            <a:ext cx="187452" cy="126355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955280" y="3150582"/>
            <a:ext cx="187452" cy="18545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42732" y="3169127"/>
            <a:ext cx="187452" cy="-85030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330184" y="3084097"/>
            <a:ext cx="187452" cy="-158401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517636" y="2925696"/>
            <a:ext cx="187452" cy="-185735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05088" y="2739961"/>
            <a:ext cx="187452" cy="-164672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92540" y="2575289"/>
            <a:ext cx="187452" cy="-105655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79992" y="2469634"/>
            <a:ext cx="187452" cy="-27827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267444" y="2441807"/>
            <a:ext cx="187452" cy="47010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454896" y="2488817"/>
            <a:ext cx="187452" cy="100492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642348" y="2589310"/>
            <a:ext cx="187452" cy="122115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829800" y="2711424"/>
            <a:ext cx="187452" cy="110979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017252" y="2822403"/>
            <a:ext cx="187452" cy="74707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204704" y="2897110"/>
            <a:ext cx="187452" cy="26208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392156" y="2923317"/>
            <a:ext cx="187452" cy="-20504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579608" y="2902814"/>
            <a:ext cx="187452" cy="-54151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767060" y="2848663"/>
            <a:ext cx="187452" cy="-68690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954512" y="2779973"/>
            <a:ext cx="187452" cy="-63995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141964" y="2715978"/>
            <a:ext cx="187452" cy="-44844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329416" y="2671134"/>
            <a:ext cx="187452" cy="-18770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516868" y="2652364"/>
            <a:ext cx="187452" cy="6409"/>
          </a:xfrm>
          <a:prstGeom prst="line">
            <a:avLst/>
          </a:prstGeom>
          <a:noFill/>
          <a:ln w="25400">
            <a:solidFill>
              <a:srgbClr val="00D2FF">
                <a:alpha val="45000"/>
              </a:srgbClr>
            </a:solidFill>
            <a:prstDash val="solid"/>
          </a:ln>
        </p:spPr>
      </p:sp>
      <p:pic>
        <p:nvPicPr>
          <p:cNvPr id="6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3246120"/>
            <a:ext cx="822960" cy="822960"/>
          </a:xfrm>
          <a:prstGeom prst="rect">
            <a:avLst/>
          </a:prstGeom>
        </p:spPr>
      </p:pic>
      <p:sp>
        <p:nvSpPr>
          <p:cNvPr id="63" name="Text 60"/>
          <p:cNvSpPr/>
          <p:nvPr/>
        </p:nvSpPr>
        <p:spPr>
          <a:xfrm>
            <a:off x="0" y="416052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5400" dirty="0"/>
          </a:p>
        </p:txBody>
      </p:sp>
      <p:sp>
        <p:nvSpPr>
          <p:cNvPr id="64" name="Text 61"/>
          <p:cNvSpPr/>
          <p:nvPr/>
        </p:nvSpPr>
        <p:spPr>
          <a:xfrm>
            <a:off x="0" y="507492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system response to network degradation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Privacy-Preserving Edge Streaming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10881360" cy="1051560"/>
          </a:xfrm>
          <a:prstGeom prst="roundRect">
            <a:avLst>
              <a:gd name="adj" fmla="val 6087"/>
            </a:avLst>
          </a:prstGeom>
          <a:solidFill>
            <a:srgbClr val="161B22"/>
          </a:solidFill>
          <a:ln w="12700">
            <a:solidFill>
              <a:srgbClr val="2A32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668780"/>
            <a:ext cx="731520" cy="731520"/>
          </a:xfrm>
          <a:prstGeom prst="ellipse">
            <a:avLst/>
          </a:prstGeom>
          <a:solidFill>
            <a:srgbClr val="1B222C"/>
          </a:solidFill>
          <a:ln w="19050">
            <a:solidFill>
              <a:srgbClr val="28A74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186994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960" y="1673352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by Design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965960" y="205740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ROI patches transmitted — background discarded at the edge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761488"/>
            <a:ext cx="10881360" cy="1051560"/>
          </a:xfrm>
          <a:prstGeom prst="roundRect">
            <a:avLst>
              <a:gd name="adj" fmla="val 6087"/>
            </a:avLst>
          </a:prstGeom>
          <a:solidFill>
            <a:srgbClr val="161B22"/>
          </a:solidFill>
          <a:ln w="12700">
            <a:solidFill>
              <a:srgbClr val="2A32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60120" y="2921508"/>
            <a:ext cx="731520" cy="731520"/>
          </a:xfrm>
          <a:prstGeom prst="ellipse">
            <a:avLst/>
          </a:prstGeom>
          <a:solidFill>
            <a:srgbClr val="1B222C"/>
          </a:solidFill>
          <a:ln w="19050">
            <a:solidFill>
              <a:srgbClr val="00D2F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" y="3122676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65960" y="292608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by Necessity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1965960" y="331012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 controller closes the loop on JPEG quality from reception ratio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4014216"/>
            <a:ext cx="10881360" cy="1051560"/>
          </a:xfrm>
          <a:prstGeom prst="roundRect">
            <a:avLst>
              <a:gd name="adj" fmla="val 6087"/>
            </a:avLst>
          </a:prstGeom>
          <a:solidFill>
            <a:srgbClr val="161B22"/>
          </a:solidFill>
          <a:ln w="12700">
            <a:solidFill>
              <a:srgbClr val="2A32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60120" y="4174236"/>
            <a:ext cx="731520" cy="731520"/>
          </a:xfrm>
          <a:prstGeom prst="ellipse">
            <a:avLst/>
          </a:prstGeom>
          <a:solidFill>
            <a:srgbClr val="1B222C"/>
          </a:solidFill>
          <a:ln w="19050">
            <a:solidFill>
              <a:srgbClr val="FFC107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4375404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65960" y="4178808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Resilient by Engineering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1965960" y="4562856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layers of recovery: from frame headers to predict-only mode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0" y="5404104"/>
            <a:ext cx="1216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3000" dirty="0"/>
          </a:p>
        </p:txBody>
      </p:sp>
      <p:sp>
        <p:nvSpPr>
          <p:cNvPr id="19" name="Text 14"/>
          <p:cNvSpPr/>
          <p:nvPr/>
        </p:nvSpPr>
        <p:spPr>
          <a:xfrm>
            <a:off x="0" y="6044184"/>
            <a:ext cx="1216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github.com/jungha  ·  ICT Application Technology, Spring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ROI Privacy-Preserving Edge Streaming</dc:title>
  <dc:subject>PptxGenJS Presentation</dc:subject>
  <dc:creator>Jungha</dc:creator>
  <cp:lastModifiedBy>Jungha</cp:lastModifiedBy>
  <cp:revision>1</cp:revision>
  <dcterms:created xsi:type="dcterms:W3CDTF">2026-05-31T07:16:35Z</dcterms:created>
  <dcterms:modified xsi:type="dcterms:W3CDTF">2026-05-31T07:16:35Z</dcterms:modified>
</cp:coreProperties>
</file>